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AA6B7"/>
          </a:solidFill>
          <a:ln/>
        </p:spPr>
      </p:sp>
      <p:sp>
        <p:nvSpPr>
          <p:cNvPr id="3" name="Shape 1"/>
          <p:cNvSpPr/>
          <p:nvPr/>
        </p:nvSpPr>
        <p:spPr>
          <a:xfrm>
            <a:off x="6675120" y="-1097280"/>
            <a:ext cx="4023360" cy="402336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680960" y="2194560"/>
            <a:ext cx="2926080" cy="2926080"/>
          </a:xfrm>
          <a:prstGeom prst="ellipse">
            <a:avLst/>
          </a:prstGeom>
          <a:solidFill>
            <a:srgbClr val="1AA6B7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AA6B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TALARIA 訊翼科技 ｜ 品牌健檢報告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貝納頌 品牌健檢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658368" y="2697480"/>
            <a:ext cx="2377440" cy="45720"/>
          </a:xfrm>
          <a:prstGeom prst="rect">
            <a:avLst/>
          </a:prstGeom>
          <a:solidFill>
            <a:srgbClr val="1AA6B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926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7DE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從別人的收銀機，看見你看不到的自己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基於財政部電子發票實購數據　·　全市場樣本 683,902 位買家　·　試作版本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A6B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1629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你看得到自己的銷量，卻看不到買家走出店門後把錢給了誰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8046720" cy="18288"/>
          </a:xfrm>
          <a:prstGeom prst="rect">
            <a:avLst/>
          </a:prstGeom>
          <a:solidFill>
            <a:srgbClr val="DCE3E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486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93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00  為什麼需要這份健檢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7033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554480"/>
            <a:ext cx="3703320" cy="64008"/>
          </a:xfrm>
          <a:prstGeom prst="rect">
            <a:avLst/>
          </a:prstGeom>
          <a:solidFill>
            <a:srgbClr val="8A93A2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783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661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你的 POS 看得到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237744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1B223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你自己貨架上的銷量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1B223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你的門市、你的促銷成效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1B223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「還在買的人」長什麼樣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26280" y="1554480"/>
            <a:ext cx="40690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26280" y="1554480"/>
            <a:ext cx="4069080" cy="64008"/>
          </a:xfrm>
          <a:prstGeom prst="rect">
            <a:avLst/>
          </a:prstGeom>
          <a:solidFill>
            <a:srgbClr val="1AA6B7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7E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發票實購數據看得到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46320" y="237744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1B223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買家在「不是你」的通路買了多少咖啡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1B223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他的咖啡錢，有多少給了競品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1B223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已經悄悄流失、跑去別家的人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1B223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同一個人，一天的購買節奏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4526280"/>
            <a:ext cx="9144000" cy="576072"/>
          </a:xfrm>
          <a:prstGeom prst="rect">
            <a:avLst/>
          </a:prstGeom>
          <a:solidFill>
            <a:srgbClr val="16294D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4526280"/>
            <a:ext cx="9144000" cy="45720"/>
          </a:xfrm>
          <a:prstGeom prst="rect">
            <a:avLst/>
          </a:prstGeom>
          <a:solidFill>
            <a:srgbClr val="1AA6B7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57200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市場的真相不在你的收銀機裡，而在「同一個消費者，在所有品牌與通路的全貌」。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A6B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1629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最能喝咖啡的 18 萬人，一年把約 2.8 億咖啡錢給了別的品牌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8046720" cy="18288"/>
          </a:xfrm>
          <a:prstGeom prst="rect">
            <a:avLst/>
          </a:prstGeom>
          <a:solidFill>
            <a:srgbClr val="DCE3E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486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93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00  核心發現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2542032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554480"/>
            <a:ext cx="2542032" cy="64008"/>
          </a:xfrm>
          <a:prstGeom prst="rect">
            <a:avLst/>
          </a:prstGeom>
          <a:solidFill>
            <a:srgbClr val="16294D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874520"/>
            <a:ext cx="2542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629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68萬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685800" y="288036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23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觸及的咖啡買家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291840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61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一年購買貝納頌的不重複人數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00984" y="1554480"/>
            <a:ext cx="2542032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00984" y="1554480"/>
            <a:ext cx="2542032" cy="64008"/>
          </a:xfrm>
          <a:prstGeom prst="rect">
            <a:avLst/>
          </a:prstGeom>
          <a:solidFill>
            <a:srgbClr val="1AA6B7"/>
          </a:solidFill>
          <a:ln/>
        </p:spPr>
      </p:sp>
      <p:sp>
        <p:nvSpPr>
          <p:cNvPr id="13" name="Text 11"/>
          <p:cNvSpPr/>
          <p:nvPr/>
        </p:nvSpPr>
        <p:spPr>
          <a:xfrm>
            <a:off x="3300984" y="1874520"/>
            <a:ext cx="2542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AA6B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36%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3438144" y="288036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23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錢包占有率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83864" y="3291840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61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買家的咖啡花費裡，貝納頌只拿到約三分之一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53328" y="1554480"/>
            <a:ext cx="2542032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53328" y="1554480"/>
            <a:ext cx="2542032" cy="64008"/>
          </a:xfrm>
          <a:prstGeom prst="rect">
            <a:avLst/>
          </a:prstGeom>
          <a:solidFill>
            <a:srgbClr val="E0533D"/>
          </a:solidFill>
          <a:ln/>
        </p:spPr>
      </p:sp>
      <p:sp>
        <p:nvSpPr>
          <p:cNvPr id="18" name="Text 16"/>
          <p:cNvSpPr/>
          <p:nvPr/>
        </p:nvSpPr>
        <p:spPr>
          <a:xfrm>
            <a:off x="6053328" y="1874520"/>
            <a:ext cx="2542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053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2.8億</a:t>
            </a:r>
            <a:endParaRPr lang="en-US" sz="4600" dirty="0"/>
          </a:p>
        </p:txBody>
      </p:sp>
      <p:sp>
        <p:nvSpPr>
          <p:cNvPr id="19" name="Text 17"/>
          <p:cNvSpPr/>
          <p:nvPr/>
        </p:nvSpPr>
        <p:spPr>
          <a:xfrm>
            <a:off x="6190488" y="288036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23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流向競品的咖啡錢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36208" y="3291840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61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光是「重度咖啡客」一年的流失（保守值）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526280"/>
            <a:ext cx="8046720" cy="502920"/>
          </a:xfrm>
          <a:prstGeom prst="rect">
            <a:avLst/>
          </a:prstGeom>
          <a:solidFill>
            <a:srgbClr val="EBF0F4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4526280"/>
            <a:ext cx="64008" cy="502920"/>
          </a:xfrm>
          <a:prstGeom prst="rect">
            <a:avLst/>
          </a:prstGeom>
          <a:solidFill>
            <a:srgbClr val="1AA6B7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526280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23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貝納頌的問題不是沒人買，而是「最該買的人，買最少」。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A6B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1629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貝納頌是徹底的「超商型」品牌：近九成銷售集中在四大超商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8046720" cy="18288"/>
          </a:xfrm>
          <a:prstGeom prst="rect">
            <a:avLst/>
          </a:prstGeom>
          <a:solidFill>
            <a:srgbClr val="DCE3E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486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93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01  他們在哪裡買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23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7-ELEVEN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94560" y="1664208"/>
            <a:ext cx="5120640" cy="164592"/>
          </a:xfrm>
          <a:prstGeom prst="rect">
            <a:avLst/>
          </a:prstGeom>
          <a:solidFill>
            <a:srgbClr val="EBF0F4"/>
          </a:solidFill>
          <a:ln/>
        </p:spPr>
      </p:sp>
      <p:sp>
        <p:nvSpPr>
          <p:cNvPr id="8" name="Shape 6"/>
          <p:cNvSpPr/>
          <p:nvPr/>
        </p:nvSpPr>
        <p:spPr>
          <a:xfrm>
            <a:off x="2194560" y="1664208"/>
            <a:ext cx="5120640" cy="164592"/>
          </a:xfrm>
          <a:prstGeom prst="rect">
            <a:avLst/>
          </a:prstGeom>
          <a:solidFill>
            <a:srgbClr val="16294D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0" y="16002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23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39.1%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1488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23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全家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194560" y="2212848"/>
            <a:ext cx="5120640" cy="164592"/>
          </a:xfrm>
          <a:prstGeom prst="rect">
            <a:avLst/>
          </a:prstGeom>
          <a:solidFill>
            <a:srgbClr val="EBF0F4"/>
          </a:solidFill>
          <a:ln/>
        </p:spPr>
      </p:sp>
      <p:sp>
        <p:nvSpPr>
          <p:cNvPr id="12" name="Shape 10"/>
          <p:cNvSpPr/>
          <p:nvPr/>
        </p:nvSpPr>
        <p:spPr>
          <a:xfrm>
            <a:off x="2194560" y="2212848"/>
            <a:ext cx="4387249" cy="164592"/>
          </a:xfrm>
          <a:prstGeom prst="rect">
            <a:avLst/>
          </a:prstGeom>
          <a:solidFill>
            <a:srgbClr val="16294D"/>
          </a:solidFill>
          <a:ln/>
        </p:spPr>
      </p:sp>
      <p:sp>
        <p:nvSpPr>
          <p:cNvPr id="13" name="Text 11"/>
          <p:cNvSpPr/>
          <p:nvPr/>
        </p:nvSpPr>
        <p:spPr>
          <a:xfrm>
            <a:off x="7406640" y="214884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23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33.5%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26974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23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全聯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194560" y="2761488"/>
            <a:ext cx="5120640" cy="164592"/>
          </a:xfrm>
          <a:prstGeom prst="rect">
            <a:avLst/>
          </a:prstGeom>
          <a:solidFill>
            <a:srgbClr val="EBF0F4"/>
          </a:solidFill>
          <a:ln/>
        </p:spPr>
      </p:sp>
      <p:sp>
        <p:nvSpPr>
          <p:cNvPr id="16" name="Shape 14"/>
          <p:cNvSpPr/>
          <p:nvPr/>
        </p:nvSpPr>
        <p:spPr>
          <a:xfrm>
            <a:off x="2194560" y="2761488"/>
            <a:ext cx="1047701" cy="164592"/>
          </a:xfrm>
          <a:prstGeom prst="rect">
            <a:avLst/>
          </a:prstGeom>
          <a:solidFill>
            <a:srgbClr val="16294D"/>
          </a:solidFill>
          <a:ln/>
        </p:spPr>
      </p:sp>
      <p:sp>
        <p:nvSpPr>
          <p:cNvPr id="17" name="Text 15"/>
          <p:cNvSpPr/>
          <p:nvPr/>
        </p:nvSpPr>
        <p:spPr>
          <a:xfrm>
            <a:off x="7406640" y="269748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23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8.0%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32461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23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萊爾富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194560" y="3310128"/>
            <a:ext cx="5120640" cy="164592"/>
          </a:xfrm>
          <a:prstGeom prst="rect">
            <a:avLst/>
          </a:prstGeom>
          <a:solidFill>
            <a:srgbClr val="EBF0F4"/>
          </a:solidFill>
          <a:ln/>
        </p:spPr>
      </p:sp>
      <p:sp>
        <p:nvSpPr>
          <p:cNvPr id="20" name="Shape 18"/>
          <p:cNvSpPr/>
          <p:nvPr/>
        </p:nvSpPr>
        <p:spPr>
          <a:xfrm>
            <a:off x="2194560" y="3310128"/>
            <a:ext cx="1008412" cy="164592"/>
          </a:xfrm>
          <a:prstGeom prst="rect">
            <a:avLst/>
          </a:prstGeom>
          <a:solidFill>
            <a:srgbClr val="16294D"/>
          </a:solidFill>
          <a:ln/>
        </p:spPr>
      </p:sp>
      <p:sp>
        <p:nvSpPr>
          <p:cNvPr id="21" name="Text 19"/>
          <p:cNvSpPr/>
          <p:nvPr/>
        </p:nvSpPr>
        <p:spPr>
          <a:xfrm>
            <a:off x="7406640" y="324612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23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7.7%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37947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其他通路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194560" y="3858768"/>
            <a:ext cx="5120640" cy="164592"/>
          </a:xfrm>
          <a:prstGeom prst="rect">
            <a:avLst/>
          </a:prstGeom>
          <a:solidFill>
            <a:srgbClr val="EBF0F4"/>
          </a:solidFill>
          <a:ln/>
        </p:spPr>
      </p:sp>
      <p:sp>
        <p:nvSpPr>
          <p:cNvPr id="24" name="Shape 22"/>
          <p:cNvSpPr/>
          <p:nvPr/>
        </p:nvSpPr>
        <p:spPr>
          <a:xfrm>
            <a:off x="2194560" y="3858768"/>
            <a:ext cx="1532263" cy="164592"/>
          </a:xfrm>
          <a:prstGeom prst="rect">
            <a:avLst/>
          </a:prstGeom>
          <a:solidFill>
            <a:srgbClr val="CFD6DE"/>
          </a:solidFill>
          <a:ln/>
        </p:spPr>
      </p:sp>
      <p:sp>
        <p:nvSpPr>
          <p:cNvPr id="25" name="Text 23"/>
          <p:cNvSpPr/>
          <p:nvPr/>
        </p:nvSpPr>
        <p:spPr>
          <a:xfrm>
            <a:off x="7406640" y="37947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93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11.7%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" y="43434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「其他通路」＝四大超商以外（量販、百貨、電商、藥妝等）合計。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4800600"/>
            <a:ext cx="8046720" cy="502920"/>
          </a:xfrm>
          <a:prstGeom prst="rect">
            <a:avLst/>
          </a:prstGeom>
          <a:solidFill>
            <a:srgbClr val="EBF0F4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4800600"/>
            <a:ext cx="64008" cy="502920"/>
          </a:xfrm>
          <a:prstGeom prst="rect">
            <a:avLst/>
          </a:prstGeom>
          <a:solidFill>
            <a:srgbClr val="1AA6B7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4800600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23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通路命脈在四大超商的鋪貨密度與陳列；量販、電商目前是零頭，也是還沒被開發的空間。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A6B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1629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最忠誠的人喝得少，最能喝的人最不忠誠——成長空間在游離客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8046720" cy="18288"/>
          </a:xfrm>
          <a:prstGeom prst="rect">
            <a:avLst/>
          </a:prstGeom>
          <a:solidFill>
            <a:srgbClr val="DCE3E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486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93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02  貝納頌拿到多少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254203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554480"/>
            <a:ext cx="2542032" cy="64008"/>
          </a:xfrm>
          <a:prstGeom prst="rect">
            <a:avLst/>
          </a:prstGeom>
          <a:solidFill>
            <a:srgbClr val="16294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737360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9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 死忠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05740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33.5 萬人 · 49%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377440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9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95.8%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731520" y="297180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1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幾乎只喝貝納頌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383280"/>
            <a:ext cx="2176272" cy="10973"/>
          </a:xfrm>
          <a:prstGeom prst="rect">
            <a:avLst/>
          </a:prstGeom>
          <a:solidFill>
            <a:srgbClr val="DCE3E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474720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3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一年咖啡花費
</a:t>
            </a:r>
            <a:pPr indent="0" marL="0">
              <a:buNone/>
            </a:pPr>
            <a:r>
              <a:rPr lang="en-US" sz="1600" b="1" dirty="0">
                <a:solidFill>
                  <a:srgbClr val="1B223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422 元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00984" y="1554480"/>
            <a:ext cx="254203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00984" y="1554480"/>
            <a:ext cx="2542032" cy="64008"/>
          </a:xfrm>
          <a:prstGeom prst="rect">
            <a:avLst/>
          </a:prstGeom>
          <a:solidFill>
            <a:srgbClr val="1AA6B7"/>
          </a:solidFill>
          <a:ln/>
        </p:spPr>
      </p:sp>
      <p:sp>
        <p:nvSpPr>
          <p:cNvPr id="16" name="Text 14"/>
          <p:cNvSpPr/>
          <p:nvPr/>
        </p:nvSpPr>
        <p:spPr>
          <a:xfrm>
            <a:off x="3483864" y="1737360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A6B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 中間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83864" y="205740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16.5 萬人 · 24%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83864" y="2377440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A6B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48.8%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3483864" y="297180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1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一半給貝納頌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83864" y="3383280"/>
            <a:ext cx="2176272" cy="10973"/>
          </a:xfrm>
          <a:prstGeom prst="rect">
            <a:avLst/>
          </a:prstGeom>
          <a:solidFill>
            <a:srgbClr val="DCE3EA"/>
          </a:solidFill>
          <a:ln/>
        </p:spPr>
      </p:sp>
      <p:sp>
        <p:nvSpPr>
          <p:cNvPr id="21" name="Text 19"/>
          <p:cNvSpPr/>
          <p:nvPr/>
        </p:nvSpPr>
        <p:spPr>
          <a:xfrm>
            <a:off x="3483864" y="3474720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3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一年咖啡花費
</a:t>
            </a:r>
            <a:pPr indent="0" marL="0">
              <a:buNone/>
            </a:pPr>
            <a:r>
              <a:rPr lang="en-US" sz="1600" b="1" dirty="0">
                <a:solidFill>
                  <a:srgbClr val="1B223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571 元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53328" y="1554480"/>
            <a:ext cx="254203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53328" y="1554480"/>
            <a:ext cx="2542032" cy="64008"/>
          </a:xfrm>
          <a:prstGeom prst="rect">
            <a:avLst/>
          </a:prstGeom>
          <a:solidFill>
            <a:srgbClr val="E0533D"/>
          </a:solidFill>
          <a:ln/>
        </p:spPr>
      </p:sp>
      <p:sp>
        <p:nvSpPr>
          <p:cNvPr id="24" name="Text 22"/>
          <p:cNvSpPr/>
          <p:nvPr/>
        </p:nvSpPr>
        <p:spPr>
          <a:xfrm>
            <a:off x="6236208" y="1737360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53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 游離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236208" y="205740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18.4 萬人 · 27%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236208" y="2377440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053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13.5%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6236208" y="297180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1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只給一成多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36208" y="3383280"/>
            <a:ext cx="2176272" cy="10973"/>
          </a:xfrm>
          <a:prstGeom prst="rect">
            <a:avLst/>
          </a:prstGeom>
          <a:solidFill>
            <a:srgbClr val="DCE3EA"/>
          </a:solidFill>
          <a:ln/>
        </p:spPr>
      </p:sp>
      <p:sp>
        <p:nvSpPr>
          <p:cNvPr id="29" name="Text 27"/>
          <p:cNvSpPr/>
          <p:nvPr/>
        </p:nvSpPr>
        <p:spPr>
          <a:xfrm>
            <a:off x="6236208" y="3474720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3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一年咖啡花費
</a:t>
            </a:r>
            <a:pPr indent="0" marL="0">
              <a:buNone/>
            </a:pPr>
            <a:r>
              <a:rPr lang="en-US" sz="1600" b="1" dirty="0">
                <a:solidFill>
                  <a:srgbClr val="1B223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1,775 元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4526280"/>
            <a:ext cx="8046720" cy="502920"/>
          </a:xfrm>
          <a:prstGeom prst="rect">
            <a:avLst/>
          </a:prstGeom>
          <a:solidFill>
            <a:srgbClr val="EBF0F4"/>
          </a:solidFill>
          <a:ln/>
        </p:spPr>
      </p:sp>
      <p:sp>
        <p:nvSpPr>
          <p:cNvPr id="31" name="Shape 29"/>
          <p:cNvSpPr/>
          <p:nvPr/>
        </p:nvSpPr>
        <p:spPr>
          <a:xfrm>
            <a:off x="548640" y="4526280"/>
            <a:ext cx="64008" cy="502920"/>
          </a:xfrm>
          <a:prstGeom prst="rect">
            <a:avLst/>
          </a:prstGeom>
          <a:solidFill>
            <a:srgbClr val="1AA6B7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4526280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23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 群一年花 1,775 元咖啡（是 A 群的 4 倍多），卻只把 13.5% 給貝納頌——錢最多的人，最沒被留住。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A6B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1629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你真正的對手是左岸，不是伯朗——而它就在你自己集團裡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8046720" cy="18288"/>
          </a:xfrm>
          <a:prstGeom prst="rect">
            <a:avLst/>
          </a:prstGeom>
          <a:solidFill>
            <a:srgbClr val="DCE3E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486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93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03  他們還買誰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23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左岸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94560" y="1618488"/>
            <a:ext cx="5120640" cy="164592"/>
          </a:xfrm>
          <a:prstGeom prst="rect">
            <a:avLst/>
          </a:prstGeom>
          <a:solidFill>
            <a:srgbClr val="EBF0F4"/>
          </a:solidFill>
          <a:ln/>
        </p:spPr>
      </p:sp>
      <p:sp>
        <p:nvSpPr>
          <p:cNvPr id="8" name="Shape 6"/>
          <p:cNvSpPr/>
          <p:nvPr/>
        </p:nvSpPr>
        <p:spPr>
          <a:xfrm>
            <a:off x="2194560" y="1618488"/>
            <a:ext cx="4889500" cy="164592"/>
          </a:xfrm>
          <a:prstGeom prst="rect">
            <a:avLst/>
          </a:prstGeom>
          <a:solidFill>
            <a:srgbClr val="E0533D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0" y="155448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23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27.5%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0299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23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其他小牌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194560" y="2093976"/>
            <a:ext cx="5120640" cy="164592"/>
          </a:xfrm>
          <a:prstGeom prst="rect">
            <a:avLst/>
          </a:prstGeom>
          <a:solidFill>
            <a:srgbClr val="EBF0F4"/>
          </a:solidFill>
          <a:ln/>
        </p:spPr>
      </p:sp>
      <p:sp>
        <p:nvSpPr>
          <p:cNvPr id="12" name="Shape 10"/>
          <p:cNvSpPr/>
          <p:nvPr/>
        </p:nvSpPr>
        <p:spPr>
          <a:xfrm>
            <a:off x="2194560" y="2093976"/>
            <a:ext cx="5120640" cy="164592"/>
          </a:xfrm>
          <a:prstGeom prst="rect">
            <a:avLst/>
          </a:prstGeom>
          <a:solidFill>
            <a:srgbClr val="16294D"/>
          </a:solidFill>
          <a:ln/>
        </p:spPr>
      </p:sp>
      <p:sp>
        <p:nvSpPr>
          <p:cNvPr id="13" name="Text 11"/>
          <p:cNvSpPr/>
          <p:nvPr/>
        </p:nvSpPr>
        <p:spPr>
          <a:xfrm>
            <a:off x="7406640" y="202996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23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28.8%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250545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23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伯朗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194560" y="2569464"/>
            <a:ext cx="5120640" cy="164592"/>
          </a:xfrm>
          <a:prstGeom prst="rect">
            <a:avLst/>
          </a:prstGeom>
          <a:solidFill>
            <a:srgbClr val="EBF0F4"/>
          </a:solidFill>
          <a:ln/>
        </p:spPr>
      </p:sp>
      <p:sp>
        <p:nvSpPr>
          <p:cNvPr id="16" name="Shape 14"/>
          <p:cNvSpPr/>
          <p:nvPr/>
        </p:nvSpPr>
        <p:spPr>
          <a:xfrm>
            <a:off x="2194560" y="2569464"/>
            <a:ext cx="4302760" cy="164592"/>
          </a:xfrm>
          <a:prstGeom prst="rect">
            <a:avLst/>
          </a:prstGeom>
          <a:solidFill>
            <a:srgbClr val="16294D"/>
          </a:solidFill>
          <a:ln/>
        </p:spPr>
      </p:sp>
      <p:sp>
        <p:nvSpPr>
          <p:cNvPr id="17" name="Text 15"/>
          <p:cNvSpPr/>
          <p:nvPr/>
        </p:nvSpPr>
        <p:spPr>
          <a:xfrm>
            <a:off x="7406640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23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24.2%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298094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23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UCC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194560" y="3044952"/>
            <a:ext cx="5120640" cy="164592"/>
          </a:xfrm>
          <a:prstGeom prst="rect">
            <a:avLst/>
          </a:prstGeom>
          <a:solidFill>
            <a:srgbClr val="EBF0F4"/>
          </a:solidFill>
          <a:ln/>
        </p:spPr>
      </p:sp>
      <p:sp>
        <p:nvSpPr>
          <p:cNvPr id="20" name="Shape 18"/>
          <p:cNvSpPr/>
          <p:nvPr/>
        </p:nvSpPr>
        <p:spPr>
          <a:xfrm>
            <a:off x="2194560" y="3044952"/>
            <a:ext cx="3876040" cy="164592"/>
          </a:xfrm>
          <a:prstGeom prst="rect">
            <a:avLst/>
          </a:prstGeom>
          <a:solidFill>
            <a:srgbClr val="16294D"/>
          </a:solidFill>
          <a:ln/>
        </p:spPr>
      </p:sp>
      <p:sp>
        <p:nvSpPr>
          <p:cNvPr id="21" name="Text 19"/>
          <p:cNvSpPr/>
          <p:nvPr/>
        </p:nvSpPr>
        <p:spPr>
          <a:xfrm>
            <a:off x="7406640" y="298094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23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21.8%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34564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韋恩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194560" y="3520440"/>
            <a:ext cx="5120640" cy="164592"/>
          </a:xfrm>
          <a:prstGeom prst="rect">
            <a:avLst/>
          </a:prstGeom>
          <a:solidFill>
            <a:srgbClr val="EBF0F4"/>
          </a:solidFill>
          <a:ln/>
        </p:spPr>
      </p:sp>
      <p:sp>
        <p:nvSpPr>
          <p:cNvPr id="24" name="Shape 22"/>
          <p:cNvSpPr/>
          <p:nvPr/>
        </p:nvSpPr>
        <p:spPr>
          <a:xfrm>
            <a:off x="2194560" y="3520440"/>
            <a:ext cx="480060" cy="164592"/>
          </a:xfrm>
          <a:prstGeom prst="rect">
            <a:avLst/>
          </a:prstGeom>
          <a:solidFill>
            <a:srgbClr val="CFD6DE"/>
          </a:solidFill>
          <a:ln/>
        </p:spPr>
      </p:sp>
      <p:sp>
        <p:nvSpPr>
          <p:cNvPr id="25" name="Text 23"/>
          <p:cNvSpPr/>
          <p:nvPr/>
        </p:nvSpPr>
        <p:spPr>
          <a:xfrm>
            <a:off x="7406640" y="345643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93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2.7%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" y="39319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雀巢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194560" y="3995928"/>
            <a:ext cx="5120640" cy="164592"/>
          </a:xfrm>
          <a:prstGeom prst="rect">
            <a:avLst/>
          </a:prstGeom>
          <a:solidFill>
            <a:srgbClr val="EBF0F4"/>
          </a:solidFill>
          <a:ln/>
        </p:spPr>
      </p:sp>
      <p:sp>
        <p:nvSpPr>
          <p:cNvPr id="28" name="Shape 26"/>
          <p:cNvSpPr/>
          <p:nvPr/>
        </p:nvSpPr>
        <p:spPr>
          <a:xfrm>
            <a:off x="2194560" y="3995928"/>
            <a:ext cx="391160" cy="164592"/>
          </a:xfrm>
          <a:prstGeom prst="rect">
            <a:avLst/>
          </a:prstGeom>
          <a:solidFill>
            <a:srgbClr val="CFD6DE"/>
          </a:solidFill>
          <a:ln/>
        </p:spPr>
      </p:sp>
      <p:sp>
        <p:nvSpPr>
          <p:cNvPr id="29" name="Text 27"/>
          <p:cNvSpPr/>
          <p:nvPr/>
        </p:nvSpPr>
        <p:spPr>
          <a:xfrm>
            <a:off x="7406640" y="393192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93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2.2%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31520" y="43434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數字＝貝納頌買家中，過去一年也買過該品牌至少一次的比例（可同時買多家，故加總超過 100%）。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4800600"/>
            <a:ext cx="8046720" cy="502920"/>
          </a:xfrm>
          <a:prstGeom prst="rect">
            <a:avLst/>
          </a:prstGeom>
          <a:solidFill>
            <a:srgbClr val="EBF0F4"/>
          </a:solidFill>
          <a:ln/>
        </p:spPr>
      </p:sp>
      <p:sp>
        <p:nvSpPr>
          <p:cNvPr id="32" name="Shape 30"/>
          <p:cNvSpPr/>
          <p:nvPr/>
        </p:nvSpPr>
        <p:spPr>
          <a:xfrm>
            <a:off x="548640" y="4800600"/>
            <a:ext cx="64008" cy="502920"/>
          </a:xfrm>
          <a:prstGeom prst="rect">
            <a:avLst/>
          </a:prstGeom>
          <a:solidFill>
            <a:srgbClr val="1AA6B7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4800600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23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重疊最高的左岸與貝納頌同屬統一——最大的對手在自家集團內，正在稀釋彼此的咖啡生意。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A6B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1629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同一罐咖啡，是三種不同的生活時刻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8046720" cy="18288"/>
          </a:xfrm>
          <a:prstGeom prst="rect">
            <a:avLst/>
          </a:prstGeom>
          <a:solidFill>
            <a:srgbClr val="DCE3E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486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93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04  什麼時候買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146304" cy="146304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37160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1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早上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783080" y="1417320"/>
            <a:ext cx="146304" cy="146304"/>
          </a:xfrm>
          <a:prstGeom prst="rect">
            <a:avLst/>
          </a:prstGeom>
          <a:solidFill>
            <a:srgbClr val="9C7E4A"/>
          </a:solidFill>
          <a:ln/>
        </p:spPr>
      </p:sp>
      <p:sp>
        <p:nvSpPr>
          <p:cNvPr id="9" name="Text 7"/>
          <p:cNvSpPr/>
          <p:nvPr/>
        </p:nvSpPr>
        <p:spPr>
          <a:xfrm>
            <a:off x="1965960" y="137160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1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中午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34640" y="1417320"/>
            <a:ext cx="146304" cy="146304"/>
          </a:xfrm>
          <a:prstGeom prst="rect">
            <a:avLst/>
          </a:prstGeom>
          <a:solidFill>
            <a:srgbClr val="1AA6B7"/>
          </a:solidFill>
          <a:ln/>
        </p:spPr>
      </p:sp>
      <p:sp>
        <p:nvSpPr>
          <p:cNvPr id="11" name="Text 9"/>
          <p:cNvSpPr/>
          <p:nvPr/>
        </p:nvSpPr>
        <p:spPr>
          <a:xfrm>
            <a:off x="3017520" y="137160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1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下午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86200" y="1417320"/>
            <a:ext cx="146304" cy="146304"/>
          </a:xfrm>
          <a:prstGeom prst="rect">
            <a:avLst/>
          </a:prstGeom>
          <a:solidFill>
            <a:srgbClr val="16294D"/>
          </a:solidFill>
          <a:ln/>
        </p:spPr>
      </p:sp>
      <p:sp>
        <p:nvSpPr>
          <p:cNvPr id="13" name="Text 11"/>
          <p:cNvSpPr/>
          <p:nvPr/>
        </p:nvSpPr>
        <p:spPr>
          <a:xfrm>
            <a:off x="4069080" y="137160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1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晚上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37760" y="1417320"/>
            <a:ext cx="146304" cy="146304"/>
          </a:xfrm>
          <a:prstGeom prst="rect">
            <a:avLst/>
          </a:prstGeom>
          <a:solidFill>
            <a:srgbClr val="B8B2A8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137160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1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深夜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1874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23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便利商店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2148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7E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上班通勤一杯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286000" y="1874520"/>
            <a:ext cx="2498872" cy="365760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19" name="Text 17"/>
          <p:cNvSpPr/>
          <p:nvPr/>
        </p:nvSpPr>
        <p:spPr>
          <a:xfrm>
            <a:off x="2286000" y="1874520"/>
            <a:ext cx="2498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42.7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84872" y="1874520"/>
            <a:ext cx="1205545" cy="365760"/>
          </a:xfrm>
          <a:prstGeom prst="rect">
            <a:avLst/>
          </a:prstGeom>
          <a:solidFill>
            <a:srgbClr val="9C7E4A"/>
          </a:solidFill>
          <a:ln/>
        </p:spPr>
      </p:sp>
      <p:sp>
        <p:nvSpPr>
          <p:cNvPr id="21" name="Text 19"/>
          <p:cNvSpPr/>
          <p:nvPr/>
        </p:nvSpPr>
        <p:spPr>
          <a:xfrm>
            <a:off x="4784872" y="1874520"/>
            <a:ext cx="120554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20.6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90417" y="1874520"/>
            <a:ext cx="942198" cy="365760"/>
          </a:xfrm>
          <a:prstGeom prst="rect">
            <a:avLst/>
          </a:prstGeom>
          <a:solidFill>
            <a:srgbClr val="1AA6B7"/>
          </a:solidFill>
          <a:ln/>
        </p:spPr>
      </p:sp>
      <p:sp>
        <p:nvSpPr>
          <p:cNvPr id="23" name="Text 21"/>
          <p:cNvSpPr/>
          <p:nvPr/>
        </p:nvSpPr>
        <p:spPr>
          <a:xfrm>
            <a:off x="5990417" y="1874520"/>
            <a:ext cx="9421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16.1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932615" y="1874520"/>
            <a:ext cx="912937" cy="365760"/>
          </a:xfrm>
          <a:prstGeom prst="rect">
            <a:avLst/>
          </a:prstGeom>
          <a:solidFill>
            <a:srgbClr val="16294D"/>
          </a:solidFill>
          <a:ln/>
        </p:spPr>
      </p:sp>
      <p:sp>
        <p:nvSpPr>
          <p:cNvPr id="25" name="Text 23"/>
          <p:cNvSpPr/>
          <p:nvPr/>
        </p:nvSpPr>
        <p:spPr>
          <a:xfrm>
            <a:off x="6932615" y="1874520"/>
            <a:ext cx="9129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15.6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845552" y="1874520"/>
            <a:ext cx="292608" cy="365760"/>
          </a:xfrm>
          <a:prstGeom prst="rect">
            <a:avLst/>
          </a:prstGeom>
          <a:solidFill>
            <a:srgbClr val="B8B2A8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2715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23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連鎖超市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31520" y="29900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7E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下午順手帶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286000" y="2715768"/>
            <a:ext cx="1211397" cy="365760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30" name="Text 28"/>
          <p:cNvSpPr/>
          <p:nvPr/>
        </p:nvSpPr>
        <p:spPr>
          <a:xfrm>
            <a:off x="2286000" y="2715768"/>
            <a:ext cx="12113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20.7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497397" y="2715768"/>
            <a:ext cx="1404518" cy="365760"/>
          </a:xfrm>
          <a:prstGeom prst="rect">
            <a:avLst/>
          </a:prstGeom>
          <a:solidFill>
            <a:srgbClr val="9C7E4A"/>
          </a:solidFill>
          <a:ln/>
        </p:spPr>
      </p:sp>
      <p:sp>
        <p:nvSpPr>
          <p:cNvPr id="32" name="Text 30"/>
          <p:cNvSpPr/>
          <p:nvPr/>
        </p:nvSpPr>
        <p:spPr>
          <a:xfrm>
            <a:off x="3497397" y="2715768"/>
            <a:ext cx="14045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24.0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901916" y="2715768"/>
            <a:ext cx="1714683" cy="365760"/>
          </a:xfrm>
          <a:prstGeom prst="rect">
            <a:avLst/>
          </a:prstGeom>
          <a:solidFill>
            <a:srgbClr val="1AA6B7"/>
          </a:solidFill>
          <a:ln/>
        </p:spPr>
      </p:sp>
      <p:sp>
        <p:nvSpPr>
          <p:cNvPr id="34" name="Text 32"/>
          <p:cNvSpPr/>
          <p:nvPr/>
        </p:nvSpPr>
        <p:spPr>
          <a:xfrm>
            <a:off x="4901916" y="2715768"/>
            <a:ext cx="17146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29.3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616598" y="2715768"/>
            <a:ext cx="1492301" cy="365760"/>
          </a:xfrm>
          <a:prstGeom prst="rect">
            <a:avLst/>
          </a:prstGeom>
          <a:solidFill>
            <a:srgbClr val="16294D"/>
          </a:solidFill>
          <a:ln/>
        </p:spPr>
      </p:sp>
      <p:sp>
        <p:nvSpPr>
          <p:cNvPr id="36" name="Text 34"/>
          <p:cNvSpPr/>
          <p:nvPr/>
        </p:nvSpPr>
        <p:spPr>
          <a:xfrm>
            <a:off x="6616598" y="2715768"/>
            <a:ext cx="149230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25.5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108899" y="2715768"/>
            <a:ext cx="29261" cy="365760"/>
          </a:xfrm>
          <a:prstGeom prst="rect">
            <a:avLst/>
          </a:prstGeom>
          <a:solidFill>
            <a:srgbClr val="B8B2A8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" y="35570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23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大型量販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31520" y="383133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7E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假日／下班囤貨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286000" y="3557016"/>
            <a:ext cx="602772" cy="365760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41" name="Shape 39"/>
          <p:cNvSpPr/>
          <p:nvPr/>
        </p:nvSpPr>
        <p:spPr>
          <a:xfrm>
            <a:off x="2888772" y="3557016"/>
            <a:ext cx="1603492" cy="365760"/>
          </a:xfrm>
          <a:prstGeom prst="rect">
            <a:avLst/>
          </a:prstGeom>
          <a:solidFill>
            <a:srgbClr val="9C7E4A"/>
          </a:solidFill>
          <a:ln/>
        </p:spPr>
      </p:sp>
      <p:sp>
        <p:nvSpPr>
          <p:cNvPr id="42" name="Text 40"/>
          <p:cNvSpPr/>
          <p:nvPr/>
        </p:nvSpPr>
        <p:spPr>
          <a:xfrm>
            <a:off x="2888772" y="3557016"/>
            <a:ext cx="16034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27.4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492264" y="3557016"/>
            <a:ext cx="1802465" cy="365760"/>
          </a:xfrm>
          <a:prstGeom prst="rect">
            <a:avLst/>
          </a:prstGeom>
          <a:solidFill>
            <a:srgbClr val="1AA6B7"/>
          </a:solidFill>
          <a:ln/>
        </p:spPr>
      </p:sp>
      <p:sp>
        <p:nvSpPr>
          <p:cNvPr id="44" name="Text 42"/>
          <p:cNvSpPr/>
          <p:nvPr/>
        </p:nvSpPr>
        <p:spPr>
          <a:xfrm>
            <a:off x="4492264" y="3557016"/>
            <a:ext cx="180246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30.8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294730" y="3557016"/>
            <a:ext cx="1714683" cy="365760"/>
          </a:xfrm>
          <a:prstGeom prst="rect">
            <a:avLst/>
          </a:prstGeom>
          <a:solidFill>
            <a:srgbClr val="16294D"/>
          </a:solidFill>
          <a:ln/>
        </p:spPr>
      </p:sp>
      <p:sp>
        <p:nvSpPr>
          <p:cNvPr id="46" name="Text 44"/>
          <p:cNvSpPr/>
          <p:nvPr/>
        </p:nvSpPr>
        <p:spPr>
          <a:xfrm>
            <a:off x="6294730" y="3557016"/>
            <a:ext cx="17146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29.3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8009412" y="3557016"/>
            <a:ext cx="128748" cy="365760"/>
          </a:xfrm>
          <a:prstGeom prst="rect">
            <a:avLst/>
          </a:prstGeom>
          <a:solidFill>
            <a:srgbClr val="B8B2A8"/>
          </a:solidFill>
          <a:ln/>
        </p:spPr>
      </p:sp>
      <p:sp>
        <p:nvSpPr>
          <p:cNvPr id="48" name="Shape 46"/>
          <p:cNvSpPr/>
          <p:nvPr/>
        </p:nvSpPr>
        <p:spPr>
          <a:xfrm>
            <a:off x="548640" y="4526280"/>
            <a:ext cx="8046720" cy="502920"/>
          </a:xfrm>
          <a:prstGeom prst="rect">
            <a:avLst/>
          </a:prstGeom>
          <a:solidFill>
            <a:srgbClr val="EBF0F4"/>
          </a:solidFill>
          <a:ln/>
        </p:spPr>
      </p:sp>
      <p:sp>
        <p:nvSpPr>
          <p:cNvPr id="49" name="Shape 47"/>
          <p:cNvSpPr/>
          <p:nvPr/>
        </p:nvSpPr>
        <p:spPr>
          <a:xfrm>
            <a:off x="548640" y="4526280"/>
            <a:ext cx="64008" cy="502920"/>
          </a:xfrm>
          <a:prstGeom prst="rect">
            <a:avLst/>
          </a:prstGeom>
          <a:solidFill>
            <a:srgbClr val="1AA6B7"/>
          </a:solidFill>
          <a:ln/>
        </p:spPr>
      </p:sp>
      <p:sp>
        <p:nvSpPr>
          <p:cNvPr id="50" name="Text 48"/>
          <p:cNvSpPr/>
          <p:nvPr/>
        </p:nvSpPr>
        <p:spPr>
          <a:xfrm>
            <a:off x="777240" y="4526280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23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便利商店超過四成在早上買（通勤場景），超市偏下午、量販偏假日囤貨——一個品牌，三套打法。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A6B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1629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即飲咖啡買家高度同質：戰場不在搶客群，而在留住他們的咖啡錢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8046720" cy="18288"/>
          </a:xfrm>
          <a:prstGeom prst="rect">
            <a:avLst/>
          </a:prstGeom>
          <a:solidFill>
            <a:srgbClr val="DCE3E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486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93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05  一句話總結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8046720" cy="2377440"/>
          </a:xfrm>
          <a:prstGeom prst="rect">
            <a:avLst/>
          </a:prstGeom>
          <a:solidFill>
            <a:srgbClr val="F6F9FB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91640"/>
            <a:ext cx="91440" cy="2377440"/>
          </a:xfrm>
          <a:prstGeom prst="rect">
            <a:avLst/>
          </a:prstGeom>
          <a:solidFill>
            <a:srgbClr val="1AA6B7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96596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B223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貝納頌、伯朗、左岸的買家，其實是同一群超商高頻消費者。
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661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多種切角驗證下來，差異不在「他們是誰」，而在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E053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「他們把錢給了誰」。</a:t>
            </a:r>
            <a:pPr indent="0" marL="0">
              <a:lnSpc>
                <a:spcPct val="125000"/>
              </a:lnSpc>
              <a:buNone/>
            </a:pP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661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所以貝納頌的成長，不靠搶不同的人，而靠把現有買家的咖啡錢，更多留在自己這裡。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0" y="4526280"/>
            <a:ext cx="9144000" cy="576072"/>
          </a:xfrm>
          <a:prstGeom prst="rect">
            <a:avLst/>
          </a:prstGeom>
          <a:solidFill>
            <a:srgbClr val="16294D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4526280"/>
            <a:ext cx="9144000" cy="45720"/>
          </a:xfrm>
          <a:prstGeom prst="rect">
            <a:avLst/>
          </a:prstGeom>
          <a:solidFill>
            <a:srgbClr val="1AA6B7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57200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看得到市場、留得住錢包——這正是發票實購數據能給、而 POS 給不了的決策視野。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A6B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1629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四個立刻能做的動作——都能由實購數據直接支援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8046720" cy="18288"/>
          </a:xfrm>
          <a:prstGeom prst="rect">
            <a:avLst/>
          </a:prstGeom>
          <a:solidFill>
            <a:srgbClr val="DCE3E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486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93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06  建議行動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822960" cy="457200"/>
          </a:xfrm>
          <a:prstGeom prst="rect">
            <a:avLst/>
          </a:prstGeom>
          <a:solidFill>
            <a:srgbClr val="16294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630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優先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371600" y="1463040"/>
            <a:ext cx="2103120" cy="457200"/>
          </a:xfrm>
          <a:prstGeom prst="rect">
            <a:avLst/>
          </a:prstGeom>
          <a:solidFill>
            <a:srgbClr val="16294D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463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建議行動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0" y="1463040"/>
            <a:ext cx="3383280" cy="457200"/>
          </a:xfrm>
          <a:prstGeom prst="rect">
            <a:avLst/>
          </a:prstGeom>
          <a:solidFill>
            <a:srgbClr val="16294D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4630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怎麼做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0" y="1463040"/>
            <a:ext cx="1737360" cy="457200"/>
          </a:xfrm>
          <a:prstGeom prst="rect">
            <a:avLst/>
          </a:prstGeom>
          <a:solidFill>
            <a:srgbClr val="16294D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0" y="1463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對應工具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1920240"/>
            <a:ext cx="82296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920240"/>
            <a:ext cx="822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A6B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371600" y="1920240"/>
            <a:ext cx="210312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63040" y="1920240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23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搶回游離重度客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474720" y="1920240"/>
            <a:ext cx="33832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0" y="1920240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61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鎖定 18 萬 C 群，用優惠與嘗鮮組合拉高占比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858000" y="1920240"/>
            <a:ext cx="173736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67728" y="2103120"/>
            <a:ext cx="151790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AA6B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67728" y="2103120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7E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廣告受眾包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2596896"/>
            <a:ext cx="822960" cy="676656"/>
          </a:xfrm>
          <a:prstGeom prst="rect">
            <a:avLst/>
          </a:prstGeom>
          <a:solidFill>
            <a:srgbClr val="EBF0F4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2596896"/>
            <a:ext cx="822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A6B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371600" y="2596896"/>
            <a:ext cx="2103120" cy="676656"/>
          </a:xfrm>
          <a:prstGeom prst="rect">
            <a:avLst/>
          </a:prstGeom>
          <a:solidFill>
            <a:srgbClr val="EBF0F4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63040" y="2596896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23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補強會員輪廓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474720" y="2596896"/>
            <a:ext cx="3383280" cy="676656"/>
          </a:xfrm>
          <a:prstGeom prst="rect">
            <a:avLst/>
          </a:prstGeom>
          <a:solidFill>
            <a:srgbClr val="EBF0F4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66160" y="2596896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61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把站外消費足跡寫回會員系統，提前識別流失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858000" y="2596896"/>
            <a:ext cx="1737360" cy="676656"/>
          </a:xfrm>
          <a:prstGeom prst="rect">
            <a:avLst/>
          </a:prstGeom>
          <a:solidFill>
            <a:srgbClr val="EBF0F4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67728" y="2779776"/>
            <a:ext cx="151790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AA6B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67728" y="2779776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7E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會員站外標籤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3273552"/>
            <a:ext cx="82296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3273552"/>
            <a:ext cx="822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A6B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371600" y="3273552"/>
            <a:ext cx="210312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63040" y="3273552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23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區隔自家競品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474720" y="3273552"/>
            <a:ext cx="33832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66160" y="3273552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61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檢視貝納頌與左岸的定位／價格／陳列，停止互打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858000" y="3273552"/>
            <a:ext cx="173736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967728" y="3456432"/>
            <a:ext cx="151790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AA6B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67728" y="3456432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7E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市場洞察研究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48640" y="3950208"/>
            <a:ext cx="822960" cy="676656"/>
          </a:xfrm>
          <a:prstGeom prst="rect">
            <a:avLst/>
          </a:prstGeom>
          <a:solidFill>
            <a:srgbClr val="EBF0F4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3950208"/>
            <a:ext cx="822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A6B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371600" y="3950208"/>
            <a:ext cx="2103120" cy="676656"/>
          </a:xfrm>
          <a:prstGeom prst="rect">
            <a:avLst/>
          </a:prstGeom>
          <a:solidFill>
            <a:srgbClr val="EBF0F4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463040" y="3950208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23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情境化行銷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3474720" y="3950208"/>
            <a:ext cx="3383280" cy="676656"/>
          </a:xfrm>
          <a:prstGeom prst="rect">
            <a:avLst/>
          </a:prstGeom>
          <a:solidFill>
            <a:srgbClr val="EBF0F4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66160" y="3950208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61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主打超商晨間組合；量販做箱購囤貨檔期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6858000" y="3950208"/>
            <a:ext cx="1737360" cy="676656"/>
          </a:xfrm>
          <a:prstGeom prst="rect">
            <a:avLst/>
          </a:prstGeom>
          <a:solidFill>
            <a:srgbClr val="EBF0F4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967728" y="4133088"/>
            <a:ext cx="151790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AA6B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67728" y="4133088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7E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零售戰情室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48640" y="47365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3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「對應工具」即 TALARIA 提供的服務模組——洞察可直接落地為執行。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A6B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1629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為什麼這份數據可信：規模、涵蓋率與限制，誠實揭露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8046720" cy="18288"/>
          </a:xfrm>
          <a:prstGeom prst="rect">
            <a:avLst/>
          </a:prstGeom>
          <a:solidFill>
            <a:srgbClr val="DCE3E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486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93A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07  數據代表性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93192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463040"/>
            <a:ext cx="3931920" cy="64008"/>
          </a:xfrm>
          <a:prstGeom prst="rect">
            <a:avLst/>
          </a:prstGeom>
          <a:solidFill>
            <a:srgbClr val="1AA6B7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45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7E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規模與市場涵蓋率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0574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61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全台發票消費者面板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246120" y="2103120"/>
            <a:ext cx="1143000" cy="292608"/>
          </a:xfrm>
          <a:prstGeom prst="rect">
            <a:avLst/>
          </a:prstGeom>
          <a:solidFill>
            <a:srgbClr val="FBF1D8"/>
          </a:solidFill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4631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待填 萬人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2560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61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本研究貝納頌買家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246120" y="260604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B223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683,902 人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3063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61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貝納頌分析發票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246120" y="310896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B223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335 萬張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3566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617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估計市場涵蓋率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246120" y="3611880"/>
            <a:ext cx="1143000" cy="292608"/>
          </a:xfrm>
          <a:prstGeom prst="rect">
            <a:avLst/>
          </a:prstGeom>
          <a:solidFill>
            <a:srgbClr val="FBF1D8"/>
          </a:solidFill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4631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待填 %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1463040"/>
            <a:ext cx="393192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463040"/>
            <a:ext cx="3931920" cy="64008"/>
          </a:xfrm>
          <a:prstGeom prst="rect">
            <a:avLst/>
          </a:prstGeom>
          <a:solidFill>
            <a:srgbClr val="16294D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1645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9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誠實揭露的限制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83480" y="2057400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1B223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只看得到開電子發票＋綁載具的消費；純現金、傳統市場會被低估</a:t>
            </a:r>
            <a:endParaRPr lang="en-US" sz="11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1B223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樣本偏發票 App／載具使用者，可能偏年輕、偏都會</a:t>
            </a:r>
            <a:endParaRPr lang="en-US" sz="11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1B223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購買人數為可歸戶者，是保守下限，實際只多不少</a:t>
            </a:r>
            <a:endParaRPr lang="en-US" sz="11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1B223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競品重疊為「是否一起買」，反映接觸、非金額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526280"/>
            <a:ext cx="8046720" cy="502920"/>
          </a:xfrm>
          <a:prstGeom prst="rect">
            <a:avLst/>
          </a:prstGeom>
          <a:solidFill>
            <a:srgbClr val="EBF0F4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4526280"/>
            <a:ext cx="64008" cy="502920"/>
          </a:xfrm>
          <a:prstGeom prst="rect">
            <a:avLst/>
          </a:prstGeom>
          <a:solidFill>
            <a:srgbClr val="1AA6B7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526280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23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黃色「待填」為對外提案前需補上的官方數字（面板規模、涵蓋率）——代表性越完整，結論越能從參考升級為決策依據。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AA6B7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0" y="2377440"/>
            <a:ext cx="3291840" cy="3291840"/>
          </a:xfrm>
          <a:prstGeom prst="ellipse">
            <a:avLst/>
          </a:prstGeom>
          <a:solidFill>
            <a:srgbClr val="1AA6B7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AA6B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下一步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從一次性快照，升級為持續追蹤的零售戰情室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97180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7DE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游離客本季流失多少、流向誰、比上季變多還變少——需要持續監測。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7DE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TALARIA 以 AI 自動貼標與即時資料流，讓昨日的消費戰況成為你今天的決策勝算。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4160520"/>
            <a:ext cx="2468880" cy="502920"/>
          </a:xfrm>
          <a:prstGeom prst="roundRect">
            <a:avLst>
              <a:gd name="adj" fmla="val 18182"/>
            </a:avLst>
          </a:prstGeom>
          <a:solidFill>
            <a:srgbClr val="1AA6B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41605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預約專人諮詢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4800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TALARIA 訊翼科技　·　看見市場、加速成長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貝納頌 品牌健檢報告</dc:title>
  <dc:subject>PptxGenJS Presentation</dc:subject>
  <dc:creator>TALARIA 訊翼科技</dc:creator>
  <cp:lastModifiedBy>TALARIA 訊翼科技</cp:lastModifiedBy>
  <cp:revision>1</cp:revision>
  <dcterms:created xsi:type="dcterms:W3CDTF">2026-06-20T01:24:14Z</dcterms:created>
  <dcterms:modified xsi:type="dcterms:W3CDTF">2026-06-20T01:24:14Z</dcterms:modified>
</cp:coreProperties>
</file>